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84" r:id="rId1"/>
  </p:sldMasterIdLst>
  <p:notesMasterIdLst>
    <p:notesMasterId r:id="rId29"/>
  </p:notesMasterIdLst>
  <p:sldIdLst>
    <p:sldId id="256" r:id="rId2"/>
    <p:sldId id="454" r:id="rId3"/>
    <p:sldId id="388" r:id="rId4"/>
    <p:sldId id="272" r:id="rId5"/>
    <p:sldId id="398" r:id="rId6"/>
    <p:sldId id="456" r:id="rId7"/>
    <p:sldId id="257" r:id="rId8"/>
    <p:sldId id="457" r:id="rId9"/>
    <p:sldId id="458" r:id="rId10"/>
    <p:sldId id="459" r:id="rId11"/>
    <p:sldId id="445" r:id="rId12"/>
    <p:sldId id="446" r:id="rId13"/>
    <p:sldId id="447" r:id="rId14"/>
    <p:sldId id="448" r:id="rId15"/>
    <p:sldId id="453" r:id="rId16"/>
    <p:sldId id="449" r:id="rId17"/>
    <p:sldId id="384" r:id="rId18"/>
    <p:sldId id="385" r:id="rId19"/>
    <p:sldId id="460" r:id="rId20"/>
    <p:sldId id="386" r:id="rId21"/>
    <p:sldId id="387" r:id="rId22"/>
    <p:sldId id="451" r:id="rId23"/>
    <p:sldId id="413" r:id="rId24"/>
    <p:sldId id="389" r:id="rId25"/>
    <p:sldId id="390" r:id="rId26"/>
    <p:sldId id="455" r:id="rId27"/>
    <p:sldId id="450" r:id="rId28"/>
  </p:sldIdLst>
  <p:sldSz cx="9144000" cy="6858000" type="screen4x3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 autoAdjust="0"/>
    <p:restoredTop sz="94694" autoAdjust="0"/>
  </p:normalViewPr>
  <p:slideViewPr>
    <p:cSldViewPr>
      <p:cViewPr varScale="1">
        <p:scale>
          <a:sx n="117" d="100"/>
          <a:sy n="117" d="100"/>
        </p:scale>
        <p:origin x="184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1AFED6A0-2A9B-4C82-8258-9F5447D6753D}" type="datetimeFigureOut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21823"/>
            <a:ext cx="5618480" cy="4189095"/>
          </a:xfrm>
          <a:prstGeom prst="rect">
            <a:avLst/>
          </a:prstGeom>
        </p:spPr>
        <p:txBody>
          <a:bodyPr vert="horz" lIns="93324" tIns="46662" rIns="93324" bIns="4666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32193B70-1FBA-4BF1-827B-3C58AADF11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250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93B70-1FBA-4BF1-827B-3C58AADF11E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002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93B70-1FBA-4BF1-827B-3C58AADF11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817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93B70-1FBA-4BF1-827B-3C58AADF11E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3741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93B70-1FBA-4BF1-827B-3C58AADF11E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055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93B70-1FBA-4BF1-827B-3C58AADF11E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44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93B70-1FBA-4BF1-827B-3C58AADF11E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508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93B70-1FBA-4BF1-827B-3C58AADF11E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123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35A08-A941-47E8-980B-0C67B48B8B60}" type="datetime1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475488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9680"/>
            <a:ext cx="8229600" cy="438912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0B5F-47C6-4DBB-B756-C623F13B76A5}" type="datetime1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DC656-64BE-4604-AC2E-086C336BC315}" type="datetime1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627888"/>
          </a:xfrm>
        </p:spPr>
        <p:txBody>
          <a:bodyPr/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56360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56360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0D293-D1DD-4D8D-BA40-016A26FC25B4}" type="datetime1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551688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612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29063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94548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94548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278D-C272-4A19-90DF-E7B4F1583077}" type="datetime1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305800" cy="627888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3200" b="1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D93A-8790-407E-966B-CDC69F6431C7}" type="datetime1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6F31C-6E57-4714-80DB-7584EB32BDBE}" type="datetime1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6B705-7618-435E-90A4-10AD478F8AAF}" type="datetime1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5BA05-853E-42AE-BF9A-870A1D1380C2}" type="datetime1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13977939-A071-43C1-9268-F54CC2756BB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3A3E9-4B8C-4762-9C73-5016B62FBE4A}" type="datetime1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6DFD4-AFF6-4EC4-978D-94617FF7741D}" type="datetime1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27888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3258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7758603-0FE5-404F-A08E-0663569AC92D}" type="datetime1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3977939-A071-43C1-9268-F54CC2756BB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b="1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rogrammedlessons.org/Java9/index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</p:spPr>
        <p:txBody>
          <a:bodyPr/>
          <a:lstStyle/>
          <a:p>
            <a:r>
              <a:rPr lang="en-US" dirty="0"/>
              <a:t>LECTURE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2638864"/>
          </a:xfrm>
        </p:spPr>
        <p:txBody>
          <a:bodyPr>
            <a:normAutofit fontScale="92500" lnSpcReduction="10000"/>
          </a:bodyPr>
          <a:lstStyle/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Aggregation Of Classes -</a:t>
            </a:r>
          </a:p>
          <a:p>
            <a:r>
              <a:rPr lang="en-US" dirty="0">
                <a:latin typeface="+mj-lt"/>
              </a:rPr>
              <a:t>Classes Within Classes</a:t>
            </a:r>
          </a:p>
          <a:p>
            <a:r>
              <a:rPr lang="en-US" dirty="0">
                <a:latin typeface="+mj-lt"/>
              </a:rPr>
              <a:t>Objects Within Objects</a:t>
            </a:r>
          </a:p>
          <a:p>
            <a:r>
              <a:rPr lang="en-US" dirty="0" err="1">
                <a:latin typeface="+mj-lt"/>
              </a:rPr>
              <a:t>enum</a:t>
            </a:r>
            <a:r>
              <a:rPr lang="en-US" dirty="0">
                <a:latin typeface="+mj-lt"/>
              </a:rPr>
              <a:t> Types</a:t>
            </a:r>
          </a:p>
          <a:p>
            <a:r>
              <a:rPr lang="en-US" dirty="0">
                <a:latin typeface="+mj-lt"/>
              </a:rPr>
              <a:t>CSC  123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Course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32689"/>
            <a:ext cx="8534400" cy="578878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Fall 2021. Howard Rosenthal</a:t>
            </a:r>
          </a:p>
          <a:p>
            <a:r>
              <a:rPr lang="en-US" dirty="0"/>
              <a:t>Materials for this course have utilized materials in the following documents.  Additional materials taken from web sites will be referenced when utilized.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2"/>
              </a:rPr>
              <a:t>http://www.programmedlessons.org/Java9/index.html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Anderson, Julie and Franceschi Herve, Java Illuminated 5</a:t>
            </a:r>
            <a:r>
              <a:rPr lang="en-US" baseline="30000" dirty="0"/>
              <a:t>TH</a:t>
            </a:r>
            <a:r>
              <a:rPr lang="en-US" dirty="0"/>
              <a:t> Edition,, Jones and Bartlett, 2019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Bravaco, Ralph and Simonson, Shai, Java programming From The Ground Up, McGraw Hill, 2010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Deitel, Paul and Deitel, Harvey, Java, How To Program, Early Objects, Eleventh Edition, Pearson Publishing, 2018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Gaddis, Tony, Starting Out With Objects From Control Structures Through Objects, Seventh Edition, Pearson Publishing, 2019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Horstmann, Cay, Core Java For The Impatient, Addison Wesley- Pearson Education, 2015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Schmuller, Joseph, Teach Yourself UML In 24 Hours Second Edition, SAMS Publishing, 2002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Urma, Raoul-Gabriel, Fusco, Mario and Mycroft, Alan, Java 8 in Action: Lambdas, Streams, and Functional-Style Programming, Second Edition, Manning Publishing, 2019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Wirfs-Brock, Rebecca, Wilkerson, Brian and Wiener, Laura, Designing Object-Oriented Software, Prentice Hall, 1990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583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C8384-295F-1D41-9538-2AAC4B61E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An enum Type Is Really A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6E50F-028D-DE43-B89F-04787F79E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9680"/>
            <a:ext cx="8229600" cy="5151120"/>
          </a:xfrm>
        </p:spPr>
        <p:txBody>
          <a:bodyPr>
            <a:normAutofit/>
          </a:bodyPr>
          <a:lstStyle/>
          <a:p>
            <a:r>
              <a:rPr lang="en-US" dirty="0"/>
              <a:t>When you write an enumerated type declaration, you are actually </a:t>
            </a:r>
            <a:r>
              <a:rPr lang="en-US" dirty="0">
                <a:solidFill>
                  <a:srgbClr val="FF0000"/>
                </a:solidFill>
              </a:rPr>
              <a:t>extending</a:t>
            </a:r>
            <a:r>
              <a:rPr lang="en-US" dirty="0"/>
              <a:t> a special kind of class called the Enum class</a:t>
            </a:r>
          </a:p>
          <a:p>
            <a:r>
              <a:rPr lang="en-US" dirty="0"/>
              <a:t>The enum constants that you list inside the braces are actually objects of the class</a:t>
            </a:r>
          </a:p>
          <a:p>
            <a:endParaRPr lang="en-US" dirty="0"/>
          </a:p>
          <a:p>
            <a:r>
              <a:rPr lang="en-US" dirty="0"/>
              <a:t>In the example, Day is a class, and the enum constants Day.SUNDAY, Day.MONDAY, Day.TUESDAY, Day.WEDNESDAY, Day.THURSDAY, Day.FRIDAY, and Day.SATURDAY are all instances of the Day class.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01ADD-26F1-C54A-BF6B-A55BC2520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90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086" y="1066800"/>
            <a:ext cx="8229600" cy="475488"/>
          </a:xfrm>
        </p:spPr>
        <p:txBody>
          <a:bodyPr>
            <a:noAutofit/>
          </a:bodyPr>
          <a:lstStyle/>
          <a:p>
            <a:r>
              <a:rPr lang="en-US" dirty="0"/>
              <a:t>Lesson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3429000"/>
          </a:xfrm>
        </p:spPr>
        <p:txBody>
          <a:bodyPr>
            <a:normAutofit/>
          </a:bodyPr>
          <a:lstStyle/>
          <a:p>
            <a:r>
              <a:rPr lang="en-US" altLang="en-US" dirty="0"/>
              <a:t>Defining classes with classes – Aggregation</a:t>
            </a:r>
          </a:p>
          <a:p>
            <a:r>
              <a:rPr lang="en-US" dirty="0"/>
              <a:t>Using Aggregation</a:t>
            </a:r>
          </a:p>
          <a:p>
            <a:r>
              <a:rPr lang="en-US" dirty="0" err="1"/>
              <a:t>enum</a:t>
            </a:r>
            <a:r>
              <a:rPr lang="en-US" dirty="0"/>
              <a:t>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CAC1C-1A58-2E40-9E8B-959114528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75488"/>
          </a:xfrm>
        </p:spPr>
        <p:txBody>
          <a:bodyPr>
            <a:noAutofit/>
          </a:bodyPr>
          <a:lstStyle/>
          <a:p>
            <a:r>
              <a:rPr lang="en-US" dirty="0"/>
              <a:t>Aggregation Allows Us To Build Realistic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2FA09-98A4-4E4C-A57D-AD0DDB372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79950"/>
          </a:xfrm>
        </p:spPr>
        <p:txBody>
          <a:bodyPr>
            <a:normAutofit/>
          </a:bodyPr>
          <a:lstStyle/>
          <a:p>
            <a:r>
              <a:rPr lang="en-US" altLang="en-US" sz="2800" dirty="0">
                <a:solidFill>
                  <a:srgbClr val="FF0000"/>
                </a:solidFill>
              </a:rPr>
              <a:t>Aggregation</a:t>
            </a:r>
            <a:r>
              <a:rPr lang="en-US" altLang="en-US" sz="2800" dirty="0"/>
              <a:t> occurs when a class is a field in another class</a:t>
            </a:r>
            <a:br>
              <a:rPr lang="en-US" altLang="en-US" sz="2800" dirty="0"/>
            </a:br>
            <a:endParaRPr lang="en-US" altLang="en-US" sz="2800" dirty="0"/>
          </a:p>
          <a:p>
            <a:pPr lvl="1"/>
            <a:r>
              <a:rPr lang="en-US" altLang="en-US" sz="2800" dirty="0"/>
              <a:t>In real life, objects are frequently made of other objects. </a:t>
            </a:r>
            <a:br>
              <a:rPr lang="en-US" altLang="en-US" sz="2800" dirty="0"/>
            </a:br>
            <a:endParaRPr lang="en-US" altLang="en-US" sz="2800" dirty="0"/>
          </a:p>
          <a:p>
            <a:pPr lvl="2"/>
            <a:r>
              <a:rPr lang="en-US" altLang="en-US" sz="2400" dirty="0"/>
              <a:t>A </a:t>
            </a:r>
            <a:r>
              <a:rPr lang="en-US" altLang="en-US" sz="2400" b="1" dirty="0"/>
              <a:t>house</a:t>
            </a:r>
            <a:r>
              <a:rPr lang="en-US" altLang="en-US" sz="2400" dirty="0"/>
              <a:t>, is made of </a:t>
            </a:r>
            <a:r>
              <a:rPr lang="en-US" altLang="en-US" sz="2400" b="1" dirty="0"/>
              <a:t>door</a:t>
            </a:r>
            <a:r>
              <a:rPr lang="en-US" altLang="en-US" sz="2400" dirty="0"/>
              <a:t>, </a:t>
            </a:r>
            <a:r>
              <a:rPr lang="en-US" altLang="en-US" sz="2400" b="1" dirty="0"/>
              <a:t>window</a:t>
            </a:r>
            <a:r>
              <a:rPr lang="en-US" altLang="en-US" sz="2400" dirty="0"/>
              <a:t>, </a:t>
            </a:r>
            <a:r>
              <a:rPr lang="en-US" altLang="en-US" sz="2400" b="1" dirty="0"/>
              <a:t>wall</a:t>
            </a:r>
            <a:r>
              <a:rPr lang="en-US" altLang="en-US" sz="2400" dirty="0"/>
              <a:t> objects etc. </a:t>
            </a:r>
            <a:br>
              <a:rPr lang="en-US" altLang="en-US" sz="2400" dirty="0"/>
            </a:br>
            <a:endParaRPr lang="en-US" altLang="en-US" sz="2400" dirty="0"/>
          </a:p>
          <a:p>
            <a:pPr lvl="2"/>
            <a:r>
              <a:rPr lang="en-US" altLang="en-US" sz="2400" dirty="0"/>
              <a:t>It is the combination of all these objects that makes a house object.</a:t>
            </a:r>
          </a:p>
          <a:p>
            <a:pPr marL="0" indent="0">
              <a:buNone/>
            </a:pPr>
            <a:endParaRPr lang="en-US" alt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5D86A-35F6-504C-A220-143FBD148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986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CAC1C-1A58-2E40-9E8B-959114528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75488"/>
          </a:xfrm>
        </p:spPr>
        <p:txBody>
          <a:bodyPr>
            <a:noAutofit/>
          </a:bodyPr>
          <a:lstStyle/>
          <a:p>
            <a:r>
              <a:rPr lang="en-US" dirty="0"/>
              <a:t>Aggregation Allows Us To Build Realistic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2FA09-98A4-4E4C-A57D-AD0DDB372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638800"/>
          </a:xfrm>
        </p:spPr>
        <p:txBody>
          <a:bodyPr>
            <a:normAutofit/>
          </a:bodyPr>
          <a:lstStyle/>
          <a:p>
            <a:r>
              <a:rPr lang="en-US" altLang="en-US" dirty="0"/>
              <a:t>We often makes an object from other objects. </a:t>
            </a:r>
          </a:p>
          <a:p>
            <a:pPr lvl="1"/>
            <a:r>
              <a:rPr lang="en-US" altLang="en-US" dirty="0"/>
              <a:t>Suppose we need an object to represent a course.  We decide to create a </a:t>
            </a:r>
            <a:r>
              <a:rPr lang="en-US" altLang="en-US" b="1" dirty="0"/>
              <a:t>Course cla</a:t>
            </a:r>
            <a:r>
              <a:rPr lang="en-US" altLang="en-US" dirty="0"/>
              <a:t>ss, which will hold the following information:</a:t>
            </a:r>
          </a:p>
          <a:p>
            <a:pPr lvl="2"/>
            <a:r>
              <a:rPr lang="en-US" altLang="en-US" b="1" dirty="0"/>
              <a:t>Course name		Instructor	Textbook</a:t>
            </a:r>
          </a:p>
          <a:p>
            <a:pPr lvl="2"/>
            <a:endParaRPr lang="en-US" altLang="en-US" b="1" dirty="0"/>
          </a:p>
          <a:p>
            <a:pPr lvl="1"/>
            <a:r>
              <a:rPr lang="en-US" altLang="en-US" dirty="0"/>
              <a:t>The last two of these items are classes in their own right</a:t>
            </a:r>
          </a:p>
          <a:p>
            <a:pPr lvl="1"/>
            <a:r>
              <a:rPr lang="en-US" altLang="en-US" dirty="0"/>
              <a:t>The Course could be a class of String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>
                <a:solidFill>
                  <a:srgbClr val="FF0000"/>
                </a:solidFill>
              </a:rPr>
              <a:t>Good design principle: </a:t>
            </a:r>
            <a:r>
              <a:rPr lang="en-US" altLang="en-US" dirty="0"/>
              <a:t>separate related items into their own classes. </a:t>
            </a:r>
          </a:p>
          <a:p>
            <a:pPr lvl="2"/>
            <a:r>
              <a:rPr lang="en-US" altLang="en-US" dirty="0"/>
              <a:t>An Instructor class </a:t>
            </a:r>
          </a:p>
          <a:p>
            <a:pPr lvl="2"/>
            <a:r>
              <a:rPr lang="en-US" altLang="en-US" dirty="0"/>
              <a:t>A TextBook class </a:t>
            </a:r>
          </a:p>
          <a:p>
            <a:pPr lvl="2"/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5D86A-35F6-504C-A220-143FBD148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805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3E1F2D-34A2-F245-9EF3-9107C7652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050253"/>
              </p:ext>
            </p:extLst>
          </p:nvPr>
        </p:nvGraphicFramePr>
        <p:xfrm>
          <a:off x="2302737" y="1117667"/>
          <a:ext cx="4100626" cy="24708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00626">
                  <a:extLst>
                    <a:ext uri="{9D8B030D-6E8A-4147-A177-3AD203B41FA5}">
                      <a16:colId xmlns:a16="http://schemas.microsoft.com/office/drawing/2014/main" val="1935755895"/>
                    </a:ext>
                  </a:extLst>
                </a:gridCol>
              </a:tblGrid>
              <a:tr h="26490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</a:rPr>
                        <a:t>Course</a:t>
                      </a:r>
                      <a:endParaRPr lang="en-US" sz="2000" i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253078253"/>
                  </a:ext>
                </a:extLst>
              </a:tr>
              <a:tr h="79472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-</a:t>
                      </a:r>
                      <a:r>
                        <a:rPr lang="en-US" sz="2000" dirty="0" err="1">
                          <a:effectLst/>
                        </a:rPr>
                        <a:t>courseName:String</a:t>
                      </a:r>
                      <a:endParaRPr lang="en-US" sz="20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-</a:t>
                      </a:r>
                      <a:r>
                        <a:rPr lang="en-US" sz="2000" dirty="0" err="1">
                          <a:effectLst/>
                        </a:rPr>
                        <a:t>instructor:Instructor</a:t>
                      </a:r>
                      <a:endParaRPr lang="en-US" sz="20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-</a:t>
                      </a:r>
                      <a:r>
                        <a:rPr lang="en-US" sz="2000" dirty="0" err="1">
                          <a:effectLst/>
                        </a:rPr>
                        <a:t>textbook:TextBook</a:t>
                      </a:r>
                      <a:endParaRPr lang="en-US" sz="2000" dirty="0">
                        <a:effectLst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4011262522"/>
                  </a:ext>
                </a:extLst>
              </a:tr>
              <a:tr h="125169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…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88766847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5B755E9-92E9-FF44-B79A-19CF514F61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112911"/>
              </p:ext>
            </p:extLst>
          </p:nvPr>
        </p:nvGraphicFramePr>
        <p:xfrm>
          <a:off x="567693" y="3977640"/>
          <a:ext cx="3092475" cy="2270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92475">
                  <a:extLst>
                    <a:ext uri="{9D8B030D-6E8A-4147-A177-3AD203B41FA5}">
                      <a16:colId xmlns:a16="http://schemas.microsoft.com/office/drawing/2014/main" val="1935755895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</a:rPr>
                        <a:t>Instructor</a:t>
                      </a:r>
                      <a:endParaRPr lang="en-US" sz="1800" i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25307825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</a:rPr>
                        <a:t>-</a:t>
                      </a:r>
                      <a:r>
                        <a:rPr lang="en-US" sz="1800" u="none" dirty="0" err="1">
                          <a:effectLst/>
                        </a:rPr>
                        <a:t>lastName:String</a:t>
                      </a:r>
                      <a:endParaRPr lang="en-US" sz="1800" u="none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dirty="0">
                          <a:effectLst/>
                        </a:rPr>
                        <a:t>-</a:t>
                      </a:r>
                      <a:r>
                        <a:rPr lang="en-US" sz="1800" u="none" dirty="0" err="1">
                          <a:effectLst/>
                        </a:rPr>
                        <a:t>firstName:String</a:t>
                      </a:r>
                      <a:endParaRPr lang="en-US" sz="1800" u="none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dirty="0">
                          <a:effectLst/>
                        </a:rPr>
                        <a:t>-</a:t>
                      </a:r>
                      <a:r>
                        <a:rPr lang="en-US" sz="1800" u="none" dirty="0" err="1">
                          <a:effectLst/>
                        </a:rPr>
                        <a:t>officeNumber:String</a:t>
                      </a:r>
                      <a:endParaRPr lang="en-US" sz="1800" u="none" dirty="0">
                        <a:effectLst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4011262522"/>
                  </a:ext>
                </a:extLst>
              </a:tr>
              <a:tr h="11734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 . .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88766847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2EEA009-9041-574C-AA56-A8EFDFCC2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617583"/>
              </p:ext>
            </p:extLst>
          </p:nvPr>
        </p:nvGraphicFramePr>
        <p:xfrm>
          <a:off x="4191000" y="3993477"/>
          <a:ext cx="3699937" cy="21787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99937">
                  <a:extLst>
                    <a:ext uri="{9D8B030D-6E8A-4147-A177-3AD203B41FA5}">
                      <a16:colId xmlns:a16="http://schemas.microsoft.com/office/drawing/2014/main" val="1935755895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 err="1">
                          <a:effectLst/>
                        </a:rPr>
                        <a:t>TextBook</a:t>
                      </a:r>
                      <a:endParaRPr lang="en-US" sz="1800" i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25307825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</a:rPr>
                        <a:t>-</a:t>
                      </a:r>
                      <a:r>
                        <a:rPr lang="en-US" sz="1800" u="none" dirty="0" err="1">
                          <a:effectLst/>
                        </a:rPr>
                        <a:t>title:String</a:t>
                      </a:r>
                      <a:endParaRPr lang="en-US" sz="1800" u="none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dirty="0">
                          <a:effectLst/>
                        </a:rPr>
                        <a:t>-</a:t>
                      </a:r>
                      <a:r>
                        <a:rPr lang="en-US" sz="1800" u="none" dirty="0" err="1">
                          <a:effectLst/>
                        </a:rPr>
                        <a:t>author:String</a:t>
                      </a:r>
                      <a:endParaRPr lang="en-US" sz="1800" u="none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dirty="0">
                          <a:effectLst/>
                        </a:rPr>
                        <a:t>-</a:t>
                      </a:r>
                      <a:r>
                        <a:rPr lang="en-US" sz="1800" u="none" dirty="0" err="1">
                          <a:effectLst/>
                        </a:rPr>
                        <a:t>publisher:String</a:t>
                      </a:r>
                      <a:endParaRPr lang="en-US" sz="1800" u="none" dirty="0">
                        <a:effectLst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4011262522"/>
                  </a:ext>
                </a:extLst>
              </a:tr>
              <a:tr h="108144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887668472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ABCD51-0732-F94A-97BB-2F4B4FC50E01}"/>
              </a:ext>
            </a:extLst>
          </p:cNvPr>
          <p:cNvCxnSpPr>
            <a:cxnSpLocks/>
          </p:cNvCxnSpPr>
          <p:nvPr/>
        </p:nvCxnSpPr>
        <p:spPr>
          <a:xfrm flipV="1">
            <a:off x="2496620" y="3331839"/>
            <a:ext cx="0" cy="655012"/>
          </a:xfrm>
          <a:prstGeom prst="line">
            <a:avLst/>
          </a:prstGeom>
          <a:ln w="53975">
            <a:solidFill>
              <a:srgbClr val="FF0000"/>
            </a:solidFill>
            <a:headEnd type="none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571DD1-A609-1246-848E-4031D7374BB2}"/>
              </a:ext>
            </a:extLst>
          </p:cNvPr>
          <p:cNvCxnSpPr>
            <a:cxnSpLocks/>
          </p:cNvCxnSpPr>
          <p:nvPr/>
        </p:nvCxnSpPr>
        <p:spPr>
          <a:xfrm flipV="1">
            <a:off x="4778627" y="3331839"/>
            <a:ext cx="0" cy="645801"/>
          </a:xfrm>
          <a:prstGeom prst="line">
            <a:avLst/>
          </a:prstGeom>
          <a:ln w="53975">
            <a:solidFill>
              <a:srgbClr val="FF0000"/>
            </a:solidFill>
            <a:headEnd type="none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E827AE9B-7F51-974D-B869-B9628368E93F}"/>
              </a:ext>
            </a:extLst>
          </p:cNvPr>
          <p:cNvSpPr txBox="1">
            <a:spLocks/>
          </p:cNvSpPr>
          <p:nvPr/>
        </p:nvSpPr>
        <p:spPr>
          <a:xfrm>
            <a:off x="457200" y="381000"/>
            <a:ext cx="8305800" cy="627888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3200" b="1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 UML Envisioning Of A Course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464D2C-AF82-1043-813A-D9D4276AB665}"/>
              </a:ext>
            </a:extLst>
          </p:cNvPr>
          <p:cNvSpPr txBox="1"/>
          <p:nvPr/>
        </p:nvSpPr>
        <p:spPr>
          <a:xfrm>
            <a:off x="2161500" y="6466114"/>
            <a:ext cx="5234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 that the connector is a diamond, not an arrow</a:t>
            </a:r>
          </a:p>
        </p:txBody>
      </p:sp>
    </p:spTree>
    <p:extLst>
      <p:ext uri="{BB962C8B-B14F-4D97-AF65-F5344CB8AC3E}">
        <p14:creationId xmlns:p14="http://schemas.microsoft.com/office/powerpoint/2010/main" val="1173529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3E1F2D-34A2-F245-9EF3-9107C7652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933085"/>
              </p:ext>
            </p:extLst>
          </p:nvPr>
        </p:nvGraphicFramePr>
        <p:xfrm>
          <a:off x="1447800" y="1117666"/>
          <a:ext cx="6019800" cy="45973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019800">
                  <a:extLst>
                    <a:ext uri="{9D8B030D-6E8A-4147-A177-3AD203B41FA5}">
                      <a16:colId xmlns:a16="http://schemas.microsoft.com/office/drawing/2014/main" val="1935755895"/>
                    </a:ext>
                  </a:extLst>
                </a:gridCol>
              </a:tblGrid>
              <a:tr h="35364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</a:rPr>
                        <a:t>Course</a:t>
                      </a:r>
                      <a:endParaRPr lang="en-US" sz="2000" i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253078253"/>
                  </a:ext>
                </a:extLst>
              </a:tr>
              <a:tr h="106092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-</a:t>
                      </a:r>
                      <a:r>
                        <a:rPr lang="en-US" sz="2000" dirty="0" err="1">
                          <a:effectLst/>
                        </a:rPr>
                        <a:t>courseName:String</a:t>
                      </a:r>
                      <a:endParaRPr lang="en-US" sz="20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-</a:t>
                      </a:r>
                      <a:r>
                        <a:rPr lang="en-US" sz="2000" dirty="0" err="1">
                          <a:effectLst/>
                        </a:rPr>
                        <a:t>instructor:Instructor</a:t>
                      </a:r>
                      <a:endParaRPr lang="en-US" sz="20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-</a:t>
                      </a:r>
                      <a:r>
                        <a:rPr lang="en-US" sz="2000" dirty="0" err="1">
                          <a:effectLst/>
                        </a:rPr>
                        <a:t>textbook:TextBook</a:t>
                      </a:r>
                      <a:endParaRPr lang="en-US" sz="2000" dirty="0">
                        <a:effectLst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4011262522"/>
                  </a:ext>
                </a:extLst>
              </a:tr>
              <a:tr h="318277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+Cours</a:t>
                      </a:r>
                      <a:r>
                        <a:rPr lang="en-US" sz="2000" i="0" dirty="0">
                          <a:effectLst/>
                        </a:rPr>
                        <a:t>e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dirty="0" err="1">
                          <a:effectLst/>
                        </a:rPr>
                        <a:t>courseName:String</a:t>
                      </a:r>
                      <a:r>
                        <a:rPr lang="en-US" sz="2000" dirty="0">
                          <a:effectLst/>
                        </a:rPr>
                        <a:t>,                            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           instructor: Instructor, </a:t>
                      </a:r>
                      <a:r>
                        <a:rPr lang="en-US" sz="2000" dirty="0" err="1">
                          <a:effectLst/>
                        </a:rPr>
                        <a:t>textbook:TextBook</a:t>
                      </a:r>
                      <a:r>
                        <a:rPr lang="en-US" sz="2000" dirty="0">
                          <a:effectLst/>
                        </a:rPr>
                        <a:t>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+</a:t>
                      </a:r>
                      <a:r>
                        <a:rPr lang="en-US" sz="2000" dirty="0" err="1">
                          <a:effectLst/>
                        </a:rPr>
                        <a:t>setName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dirty="0" err="1">
                          <a:effectLst/>
                        </a:rPr>
                        <a:t>name:String</a:t>
                      </a:r>
                      <a:r>
                        <a:rPr lang="en-US" sz="2000" dirty="0">
                          <a:effectLst/>
                        </a:rPr>
                        <a:t>): void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+</a:t>
                      </a:r>
                      <a:r>
                        <a:rPr lang="en-US" sz="2000" dirty="0" err="1">
                          <a:effectLst/>
                        </a:rPr>
                        <a:t>setInstructor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dirty="0" err="1">
                          <a:effectLst/>
                        </a:rPr>
                        <a:t>instr:Instructor</a:t>
                      </a:r>
                      <a:r>
                        <a:rPr lang="en-US" sz="2000" dirty="0">
                          <a:effectLst/>
                        </a:rPr>
                        <a:t>):void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+</a:t>
                      </a:r>
                      <a:r>
                        <a:rPr lang="en-US" sz="2000" dirty="0" err="1">
                          <a:effectLst/>
                        </a:rPr>
                        <a:t>setTextBook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dirty="0" err="1">
                          <a:effectLst/>
                        </a:rPr>
                        <a:t>text:TextBook</a:t>
                      </a:r>
                      <a:r>
                        <a:rPr lang="en-US" sz="2000" dirty="0">
                          <a:effectLst/>
                        </a:rPr>
                        <a:t>):void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+</a:t>
                      </a:r>
                      <a:r>
                        <a:rPr lang="en-US" sz="2000" dirty="0" err="1">
                          <a:effectLst/>
                        </a:rPr>
                        <a:t>getName</a:t>
                      </a:r>
                      <a:r>
                        <a:rPr lang="en-US" sz="2000" dirty="0">
                          <a:effectLst/>
                        </a:rPr>
                        <a:t>(): String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+</a:t>
                      </a:r>
                      <a:r>
                        <a:rPr lang="en-US" sz="2000" dirty="0" err="1">
                          <a:effectLst/>
                        </a:rPr>
                        <a:t>getInstructor</a:t>
                      </a:r>
                      <a:r>
                        <a:rPr lang="en-US" sz="2000" dirty="0">
                          <a:effectLst/>
                        </a:rPr>
                        <a:t>():Instructor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+</a:t>
                      </a:r>
                      <a:r>
                        <a:rPr lang="en-US" sz="2000" dirty="0" err="1">
                          <a:effectLst/>
                        </a:rPr>
                        <a:t>getTextBook</a:t>
                      </a:r>
                      <a:r>
                        <a:rPr lang="en-US" sz="2000" dirty="0">
                          <a:effectLst/>
                        </a:rPr>
                        <a:t>():</a:t>
                      </a:r>
                      <a:r>
                        <a:rPr lang="en-US" sz="2000" dirty="0" err="1">
                          <a:effectLst/>
                        </a:rPr>
                        <a:t>TextBook</a:t>
                      </a:r>
                      <a:endParaRPr lang="en-US" sz="20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+</a:t>
                      </a:r>
                      <a:r>
                        <a:rPr lang="en-US" sz="2000" dirty="0" err="1">
                          <a:effectLst/>
                        </a:rPr>
                        <a:t>toString</a:t>
                      </a:r>
                      <a:r>
                        <a:rPr lang="en-US" sz="2000" dirty="0">
                          <a:effectLst/>
                        </a:rPr>
                        <a:t>():String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887668472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E827AE9B-7F51-974D-B869-B9628368E93F}"/>
              </a:ext>
            </a:extLst>
          </p:cNvPr>
          <p:cNvSpPr txBox="1">
            <a:spLocks/>
          </p:cNvSpPr>
          <p:nvPr/>
        </p:nvSpPr>
        <p:spPr>
          <a:xfrm>
            <a:off x="457200" y="381000"/>
            <a:ext cx="8305800" cy="627888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3200" b="1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 UML Envisioning Of A Course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CED020-CF6D-FA4F-AB88-3B9B4004C263}"/>
              </a:ext>
            </a:extLst>
          </p:cNvPr>
          <p:cNvSpPr txBox="1"/>
          <p:nvPr/>
        </p:nvSpPr>
        <p:spPr>
          <a:xfrm>
            <a:off x="1457739" y="6361043"/>
            <a:ext cx="2917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3192" lvl="1" indent="0">
              <a:buNone/>
            </a:pPr>
            <a:r>
              <a:rPr lang="en-US" dirty="0"/>
              <a:t>See </a:t>
            </a:r>
            <a:r>
              <a:rPr lang="en-US" dirty="0" err="1">
                <a:solidFill>
                  <a:srgbClr val="FF0000"/>
                </a:solidFill>
              </a:rPr>
              <a:t>Instructor.java</a:t>
            </a:r>
            <a:r>
              <a:rPr lang="en-US" dirty="0"/>
              <a:t> code</a:t>
            </a:r>
          </a:p>
        </p:txBody>
      </p:sp>
    </p:spTree>
    <p:extLst>
      <p:ext uri="{BB962C8B-B14F-4D97-AF65-F5344CB8AC3E}">
        <p14:creationId xmlns:p14="http://schemas.microsoft.com/office/powerpoint/2010/main" val="859391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5B755E9-92E9-FF44-B79A-19CF514F61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666651"/>
              </p:ext>
            </p:extLst>
          </p:nvPr>
        </p:nvGraphicFramePr>
        <p:xfrm>
          <a:off x="1541146" y="1734312"/>
          <a:ext cx="6061707" cy="39624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061707">
                  <a:extLst>
                    <a:ext uri="{9D8B030D-6E8A-4147-A177-3AD203B41FA5}">
                      <a16:colId xmlns:a16="http://schemas.microsoft.com/office/drawing/2014/main" val="1935755895"/>
                    </a:ext>
                  </a:extLst>
                </a:gridCol>
              </a:tblGrid>
              <a:tr h="28302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</a:rPr>
                        <a:t>Instructor</a:t>
                      </a:r>
                      <a:endParaRPr lang="en-US" sz="1800" i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253078253"/>
                  </a:ext>
                </a:extLst>
              </a:tr>
              <a:tr h="84908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</a:rPr>
                        <a:t>-</a:t>
                      </a:r>
                      <a:r>
                        <a:rPr lang="en-US" sz="1800" u="none" dirty="0" err="1">
                          <a:effectLst/>
                        </a:rPr>
                        <a:t>lastName:String</a:t>
                      </a:r>
                      <a:endParaRPr lang="en-US" sz="1800" u="none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dirty="0">
                          <a:effectLst/>
                        </a:rPr>
                        <a:t>-</a:t>
                      </a:r>
                      <a:r>
                        <a:rPr lang="en-US" sz="1800" u="none" dirty="0" err="1">
                          <a:effectLst/>
                        </a:rPr>
                        <a:t>firstName:String</a:t>
                      </a:r>
                      <a:endParaRPr lang="en-US" sz="1800" u="none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dirty="0">
                          <a:effectLst/>
                        </a:rPr>
                        <a:t>-</a:t>
                      </a:r>
                      <a:r>
                        <a:rPr lang="en-US" sz="1800" u="none" dirty="0" err="1">
                          <a:effectLst/>
                        </a:rPr>
                        <a:t>officeNumber:String</a:t>
                      </a:r>
                      <a:endParaRPr lang="en-US" sz="1800" u="none" dirty="0">
                        <a:effectLst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4011262522"/>
                  </a:ext>
                </a:extLst>
              </a:tr>
              <a:tr h="283028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+</a:t>
                      </a:r>
                      <a:r>
                        <a:rPr lang="en-US" sz="1800" i="0" dirty="0">
                          <a:effectLst/>
                        </a:rPr>
                        <a:t>Instructor</a:t>
                      </a:r>
                      <a:r>
                        <a:rPr lang="en-US" sz="1800" dirty="0">
                          <a:effectLst/>
                        </a:rPr>
                        <a:t>(</a:t>
                      </a:r>
                      <a:r>
                        <a:rPr lang="en-US" sz="1800" dirty="0" err="1">
                          <a:effectLst/>
                        </a:rPr>
                        <a:t>lName:String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en-US" sz="1800" dirty="0" err="1">
                          <a:effectLst/>
                        </a:rPr>
                        <a:t>fName:String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en-US" sz="1800" dirty="0" err="1">
                          <a:effectLst/>
                        </a:rPr>
                        <a:t>office:String</a:t>
                      </a:r>
                      <a:r>
                        <a:rPr lang="en-US" sz="1800" dirty="0">
                          <a:effectLst/>
                        </a:rPr>
                        <a:t>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+Instructor(object2:Instructor)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+</a:t>
                      </a:r>
                      <a:r>
                        <a:rPr lang="en-US" sz="1800" dirty="0" err="1">
                          <a:effectLst/>
                        </a:rPr>
                        <a:t>setLastName</a:t>
                      </a:r>
                      <a:r>
                        <a:rPr lang="en-US" sz="1800" dirty="0">
                          <a:effectLst/>
                        </a:rPr>
                        <a:t>(</a:t>
                      </a:r>
                      <a:r>
                        <a:rPr lang="en-US" sz="1800" dirty="0" err="1">
                          <a:effectLst/>
                        </a:rPr>
                        <a:t>lName:String</a:t>
                      </a:r>
                      <a:r>
                        <a:rPr lang="en-US" sz="1800" dirty="0">
                          <a:effectLst/>
                        </a:rPr>
                        <a:t>):void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+</a:t>
                      </a:r>
                      <a:r>
                        <a:rPr lang="en-US" sz="1800" dirty="0" err="1">
                          <a:effectLst/>
                        </a:rPr>
                        <a:t>setFirstName</a:t>
                      </a:r>
                      <a:r>
                        <a:rPr lang="en-US" sz="1800" dirty="0">
                          <a:effectLst/>
                        </a:rPr>
                        <a:t>(</a:t>
                      </a:r>
                      <a:r>
                        <a:rPr lang="en-US" sz="1800" dirty="0" err="1">
                          <a:effectLst/>
                        </a:rPr>
                        <a:t>fName:String</a:t>
                      </a:r>
                      <a:r>
                        <a:rPr lang="en-US" sz="1800" dirty="0">
                          <a:effectLst/>
                        </a:rPr>
                        <a:t>):void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+</a:t>
                      </a:r>
                      <a:r>
                        <a:rPr lang="en-US" sz="1800" dirty="0" err="1">
                          <a:effectLst/>
                        </a:rPr>
                        <a:t>setOfficeNumber</a:t>
                      </a:r>
                      <a:r>
                        <a:rPr lang="en-US" sz="1800" dirty="0">
                          <a:effectLst/>
                        </a:rPr>
                        <a:t>(</a:t>
                      </a:r>
                      <a:r>
                        <a:rPr lang="en-US" sz="1800" dirty="0" err="1">
                          <a:effectLst/>
                        </a:rPr>
                        <a:t>offNum:String</a:t>
                      </a:r>
                      <a:r>
                        <a:rPr lang="en-US" sz="1800" dirty="0">
                          <a:effectLst/>
                        </a:rPr>
                        <a:t>):void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+</a:t>
                      </a:r>
                      <a:r>
                        <a:rPr lang="en-US" sz="1800" dirty="0" err="1">
                          <a:effectLst/>
                        </a:rPr>
                        <a:t>getLastName</a:t>
                      </a:r>
                      <a:r>
                        <a:rPr lang="en-US" sz="1800" dirty="0">
                          <a:effectLst/>
                        </a:rPr>
                        <a:t>():String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+</a:t>
                      </a:r>
                      <a:r>
                        <a:rPr lang="en-US" sz="1800" dirty="0" err="1">
                          <a:effectLst/>
                        </a:rPr>
                        <a:t>getFirstName</a:t>
                      </a:r>
                      <a:r>
                        <a:rPr lang="en-US" sz="1800" dirty="0">
                          <a:effectLst/>
                        </a:rPr>
                        <a:t>():String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+</a:t>
                      </a:r>
                      <a:r>
                        <a:rPr lang="en-US" sz="1800" dirty="0" err="1">
                          <a:effectLst/>
                        </a:rPr>
                        <a:t>getOfficeNumber</a:t>
                      </a:r>
                      <a:r>
                        <a:rPr lang="en-US" sz="1800" dirty="0">
                          <a:effectLst/>
                        </a:rPr>
                        <a:t>():String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+</a:t>
                      </a:r>
                      <a:r>
                        <a:rPr lang="en-US" sz="1800" dirty="0" err="1">
                          <a:effectLst/>
                        </a:rPr>
                        <a:t>toString</a:t>
                      </a:r>
                      <a:r>
                        <a:rPr lang="en-US" sz="1800" dirty="0">
                          <a:effectLst/>
                        </a:rPr>
                        <a:t>():String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887668472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E827AE9B-7F51-974D-B869-B9628368E93F}"/>
              </a:ext>
            </a:extLst>
          </p:cNvPr>
          <p:cNvSpPr txBox="1">
            <a:spLocks/>
          </p:cNvSpPr>
          <p:nvPr/>
        </p:nvSpPr>
        <p:spPr>
          <a:xfrm>
            <a:off x="457200" y="381000"/>
            <a:ext cx="8305800" cy="627888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3200" b="1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 UML Envisioning Of A Course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F0544D-8CE4-FB41-B5D0-0E1BC1A38F00}"/>
              </a:ext>
            </a:extLst>
          </p:cNvPr>
          <p:cNvSpPr txBox="1"/>
          <p:nvPr/>
        </p:nvSpPr>
        <p:spPr>
          <a:xfrm>
            <a:off x="1073426" y="6294783"/>
            <a:ext cx="2520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</a:t>
            </a:r>
            <a:r>
              <a:rPr lang="en-US" dirty="0" err="1">
                <a:solidFill>
                  <a:srgbClr val="FF0000"/>
                </a:solidFill>
              </a:rPr>
              <a:t>Instructor.java</a:t>
            </a:r>
            <a:r>
              <a:rPr lang="en-US" dirty="0"/>
              <a:t> code</a:t>
            </a:r>
          </a:p>
        </p:txBody>
      </p:sp>
    </p:spTree>
    <p:extLst>
      <p:ext uri="{BB962C8B-B14F-4D97-AF65-F5344CB8AC3E}">
        <p14:creationId xmlns:p14="http://schemas.microsoft.com/office/powerpoint/2010/main" val="712555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2EEA009-9041-574C-AA56-A8EFDFCC2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316241"/>
              </p:ext>
            </p:extLst>
          </p:nvPr>
        </p:nvGraphicFramePr>
        <p:xfrm>
          <a:off x="1295400" y="2057400"/>
          <a:ext cx="6638819" cy="41326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638819">
                  <a:extLst>
                    <a:ext uri="{9D8B030D-6E8A-4147-A177-3AD203B41FA5}">
                      <a16:colId xmlns:a16="http://schemas.microsoft.com/office/drawing/2014/main" val="1935755895"/>
                    </a:ext>
                  </a:extLst>
                </a:gridCol>
              </a:tblGrid>
              <a:tr h="31789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0" dirty="0" err="1">
                          <a:effectLst/>
                        </a:rPr>
                        <a:t>TextBook</a:t>
                      </a:r>
                      <a:endParaRPr lang="en-US" sz="2000" i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253078253"/>
                  </a:ext>
                </a:extLst>
              </a:tr>
              <a:tr h="95368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dirty="0">
                          <a:effectLst/>
                        </a:rPr>
                        <a:t>-</a:t>
                      </a:r>
                      <a:r>
                        <a:rPr lang="en-US" sz="2000" u="none" dirty="0" err="1">
                          <a:effectLst/>
                        </a:rPr>
                        <a:t>title:String</a:t>
                      </a:r>
                      <a:endParaRPr lang="en-US" sz="2000" u="none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u="none" dirty="0">
                          <a:effectLst/>
                        </a:rPr>
                        <a:t>-</a:t>
                      </a:r>
                      <a:r>
                        <a:rPr lang="en-US" sz="2000" u="none" dirty="0" err="1">
                          <a:effectLst/>
                        </a:rPr>
                        <a:t>author:String</a:t>
                      </a:r>
                      <a:endParaRPr lang="en-US" sz="2000" u="none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u="none" dirty="0">
                          <a:effectLst/>
                        </a:rPr>
                        <a:t>-</a:t>
                      </a:r>
                      <a:r>
                        <a:rPr lang="en-US" sz="2000" u="none" dirty="0" err="1">
                          <a:effectLst/>
                        </a:rPr>
                        <a:t>publisher:String</a:t>
                      </a:r>
                      <a:endParaRPr lang="en-US" sz="2000" u="none" dirty="0">
                        <a:effectLst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4011262522"/>
                  </a:ext>
                </a:extLst>
              </a:tr>
              <a:tr h="286106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+</a:t>
                      </a:r>
                      <a:r>
                        <a:rPr lang="en-US" sz="2000" i="0" dirty="0" err="1">
                          <a:effectLst/>
                        </a:rPr>
                        <a:t>TextBook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dirty="0" err="1">
                          <a:effectLst/>
                        </a:rPr>
                        <a:t>textTitle:String</a:t>
                      </a:r>
                      <a:r>
                        <a:rPr lang="en-US" sz="2000" dirty="0">
                          <a:effectLst/>
                        </a:rPr>
                        <a:t>, </a:t>
                      </a:r>
                      <a:r>
                        <a:rPr lang="en-US" sz="2000" dirty="0" err="1">
                          <a:effectLst/>
                        </a:rPr>
                        <a:t>auth:String</a:t>
                      </a:r>
                      <a:r>
                        <a:rPr lang="en-US" sz="2000" dirty="0">
                          <a:effectLst/>
                        </a:rPr>
                        <a:t>, </a:t>
                      </a:r>
                      <a:r>
                        <a:rPr lang="en-US" sz="2000" dirty="0" err="1">
                          <a:effectLst/>
                        </a:rPr>
                        <a:t>pub:String</a:t>
                      </a:r>
                      <a:r>
                        <a:rPr lang="en-US" sz="2000" dirty="0">
                          <a:effectLst/>
                        </a:rPr>
                        <a:t>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+</a:t>
                      </a:r>
                      <a:r>
                        <a:rPr lang="en-US" sz="2000" dirty="0" err="1">
                          <a:effectLst/>
                        </a:rPr>
                        <a:t>TextBook</a:t>
                      </a:r>
                      <a:r>
                        <a:rPr lang="en-US" sz="2000" dirty="0">
                          <a:effectLst/>
                        </a:rPr>
                        <a:t>(object2:TextBook)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+</a:t>
                      </a:r>
                      <a:r>
                        <a:rPr lang="en-US" sz="2000" dirty="0" err="1">
                          <a:effectLst/>
                        </a:rPr>
                        <a:t>setTitle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dirty="0" err="1">
                          <a:effectLst/>
                        </a:rPr>
                        <a:t>title:String</a:t>
                      </a:r>
                      <a:r>
                        <a:rPr lang="en-US" sz="2000" dirty="0">
                          <a:effectLst/>
                        </a:rPr>
                        <a:t>):void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+</a:t>
                      </a:r>
                      <a:r>
                        <a:rPr lang="en-US" sz="2000" dirty="0" err="1">
                          <a:effectLst/>
                        </a:rPr>
                        <a:t>setAuthor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dirty="0" err="1">
                          <a:effectLst/>
                        </a:rPr>
                        <a:t>aName:String</a:t>
                      </a:r>
                      <a:r>
                        <a:rPr lang="en-US" sz="2000" dirty="0">
                          <a:effectLst/>
                        </a:rPr>
                        <a:t>):void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</a:rPr>
                        <a:t>+</a:t>
                      </a:r>
                      <a:r>
                        <a:rPr lang="en-US" sz="2000" dirty="0" err="1">
                          <a:effectLst/>
                        </a:rPr>
                        <a:t>setPublisher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dirty="0" err="1">
                          <a:effectLst/>
                        </a:rPr>
                        <a:t>pub:String</a:t>
                      </a:r>
                      <a:r>
                        <a:rPr lang="en-US" sz="2000" dirty="0">
                          <a:effectLst/>
                        </a:rPr>
                        <a:t>):void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+</a:t>
                      </a:r>
                      <a:r>
                        <a:rPr lang="en-US" sz="2000" dirty="0" err="1">
                          <a:effectLst/>
                        </a:rPr>
                        <a:t>getTitle</a:t>
                      </a:r>
                      <a:r>
                        <a:rPr lang="en-US" sz="2000" dirty="0">
                          <a:effectLst/>
                        </a:rPr>
                        <a:t>():String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+</a:t>
                      </a:r>
                      <a:r>
                        <a:rPr lang="en-US" sz="2000" dirty="0" err="1">
                          <a:effectLst/>
                        </a:rPr>
                        <a:t>getAuthor</a:t>
                      </a:r>
                      <a:r>
                        <a:rPr lang="en-US" sz="2000" dirty="0">
                          <a:effectLst/>
                        </a:rPr>
                        <a:t>():String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</a:rPr>
                        <a:t>+</a:t>
                      </a:r>
                      <a:r>
                        <a:rPr lang="en-US" sz="2000" dirty="0" err="1">
                          <a:effectLst/>
                        </a:rPr>
                        <a:t>getPublisher</a:t>
                      </a:r>
                      <a:r>
                        <a:rPr lang="en-US" sz="2000" dirty="0">
                          <a:effectLst/>
                        </a:rPr>
                        <a:t>():String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+</a:t>
                      </a:r>
                      <a:r>
                        <a:rPr lang="en-US" sz="2000" dirty="0" err="1">
                          <a:effectLst/>
                        </a:rPr>
                        <a:t>toString</a:t>
                      </a:r>
                      <a:r>
                        <a:rPr lang="en-US" sz="2000" dirty="0">
                          <a:effectLst/>
                        </a:rPr>
                        <a:t>():String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887668472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E827AE9B-7F51-974D-B869-B9628368E93F}"/>
              </a:ext>
            </a:extLst>
          </p:cNvPr>
          <p:cNvSpPr txBox="1">
            <a:spLocks/>
          </p:cNvSpPr>
          <p:nvPr/>
        </p:nvSpPr>
        <p:spPr>
          <a:xfrm>
            <a:off x="457200" y="381000"/>
            <a:ext cx="8305800" cy="627888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3200" b="1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 UML Envisioning Of A Course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A1A701-7A32-1547-9807-D6B41F57843E}"/>
              </a:ext>
            </a:extLst>
          </p:cNvPr>
          <p:cNvSpPr txBox="1"/>
          <p:nvPr/>
        </p:nvSpPr>
        <p:spPr>
          <a:xfrm>
            <a:off x="1143000" y="6400800"/>
            <a:ext cx="2520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</a:t>
            </a:r>
            <a:r>
              <a:rPr lang="en-US" dirty="0" err="1">
                <a:solidFill>
                  <a:srgbClr val="FF0000"/>
                </a:solidFill>
              </a:rPr>
              <a:t>Instructor.java</a:t>
            </a:r>
            <a:r>
              <a:rPr lang="en-US" dirty="0"/>
              <a:t> code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348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30E3B-E952-4644-BF9E-A23A6C58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458200" cy="475488"/>
          </a:xfrm>
        </p:spPr>
        <p:txBody>
          <a:bodyPr>
            <a:noAutofit/>
          </a:bodyPr>
          <a:lstStyle/>
          <a:p>
            <a:r>
              <a:rPr lang="en-US" dirty="0"/>
              <a:t>Discussion On UML For the Instructor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45A64-BD48-0B43-B282-62840D190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9680"/>
            <a:ext cx="8229600" cy="510667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Instructor class</a:t>
            </a:r>
          </a:p>
          <a:p>
            <a:pPr lvl="1"/>
            <a:r>
              <a:rPr lang="en-US" dirty="0"/>
              <a:t>Three instance variables - the instructor’s last name, first name and office number</a:t>
            </a:r>
          </a:p>
          <a:p>
            <a:pPr lvl="1"/>
            <a:r>
              <a:rPr lang="en-US" dirty="0"/>
              <a:t>A constructor which accepts arguments for the instructor’s last name, first name and office number</a:t>
            </a:r>
          </a:p>
          <a:p>
            <a:pPr lvl="1"/>
            <a:r>
              <a:rPr lang="en-US" dirty="0"/>
              <a:t>A constructor that creates a copy of the Instructor</a:t>
            </a:r>
          </a:p>
          <a:p>
            <a:pPr lvl="1"/>
            <a:r>
              <a:rPr lang="en-US" dirty="0"/>
              <a:t>A set method for each instance variable, which can be used to set that instance variable</a:t>
            </a:r>
          </a:p>
          <a:p>
            <a:pPr lvl="1"/>
            <a:r>
              <a:rPr lang="en-US" dirty="0"/>
              <a:t>A get method for each instance variable, which can be used to retrieve that instance variable</a:t>
            </a:r>
          </a:p>
          <a:p>
            <a:pPr lvl="1"/>
            <a:r>
              <a:rPr lang="en-US" dirty="0"/>
              <a:t>A toString method</a:t>
            </a:r>
          </a:p>
          <a:p>
            <a:pPr lvl="1"/>
            <a:endParaRPr lang="en-US" dirty="0"/>
          </a:p>
          <a:p>
            <a:pPr marL="393192" lvl="1" indent="0">
              <a:buNone/>
            </a:pPr>
            <a:r>
              <a:rPr lang="en-US" dirty="0"/>
              <a:t>See </a:t>
            </a:r>
            <a:r>
              <a:rPr lang="en-US" dirty="0">
                <a:solidFill>
                  <a:srgbClr val="FF0000"/>
                </a:solidFill>
              </a:rPr>
              <a:t>Instructor.java</a:t>
            </a:r>
            <a:r>
              <a:rPr lang="en-US" dirty="0"/>
              <a:t>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67C17-E683-E04E-B8BE-E3EFD7502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420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30E3B-E952-4644-BF9E-A23A6C58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458200" cy="475488"/>
          </a:xfrm>
        </p:spPr>
        <p:txBody>
          <a:bodyPr>
            <a:noAutofit/>
          </a:bodyPr>
          <a:lstStyle/>
          <a:p>
            <a:r>
              <a:rPr lang="en-US" dirty="0"/>
              <a:t>Discussion On UML For the Textbook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45A64-BD48-0B43-B282-62840D190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Textbook class</a:t>
            </a:r>
          </a:p>
          <a:p>
            <a:pPr lvl="1"/>
            <a:r>
              <a:rPr lang="en-US" dirty="0"/>
              <a:t>Three instance variables - the title, author and publisher</a:t>
            </a:r>
          </a:p>
          <a:p>
            <a:pPr lvl="1"/>
            <a:r>
              <a:rPr lang="en-US" dirty="0"/>
              <a:t>A constructor which accepts arguments for the title, author and publisher</a:t>
            </a:r>
          </a:p>
          <a:p>
            <a:pPr lvl="1"/>
            <a:r>
              <a:rPr lang="en-US" dirty="0"/>
              <a:t>A constructor that creates a copy of the Textbook</a:t>
            </a:r>
          </a:p>
          <a:p>
            <a:pPr lvl="1"/>
            <a:r>
              <a:rPr lang="en-US" dirty="0"/>
              <a:t>A set method for each instance variable, which can be used to set that instance variable</a:t>
            </a:r>
          </a:p>
          <a:p>
            <a:pPr lvl="1"/>
            <a:r>
              <a:rPr lang="en-US" dirty="0"/>
              <a:t>A get method for each instance variable, which can be used to retrieve that instance variable</a:t>
            </a:r>
          </a:p>
          <a:p>
            <a:pPr lvl="1"/>
            <a:r>
              <a:rPr lang="en-US" dirty="0"/>
              <a:t>A toString method</a:t>
            </a:r>
          </a:p>
          <a:p>
            <a:pPr lvl="1"/>
            <a:endParaRPr lang="en-US" dirty="0"/>
          </a:p>
          <a:p>
            <a:pPr marL="393192" lvl="1" indent="0">
              <a:buNone/>
            </a:pPr>
            <a:r>
              <a:rPr lang="en-US" dirty="0"/>
              <a:t>See </a:t>
            </a:r>
            <a:r>
              <a:rPr lang="en-US" dirty="0">
                <a:solidFill>
                  <a:srgbClr val="FF0000"/>
                </a:solidFill>
              </a:rPr>
              <a:t>TextBook.java </a:t>
            </a:r>
            <a:r>
              <a:rPr lang="en-US" dirty="0"/>
              <a:t>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67C17-E683-E04E-B8BE-E3EFD7502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397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30E3B-E952-4644-BF9E-A23A6C58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458200" cy="475488"/>
          </a:xfrm>
        </p:spPr>
        <p:txBody>
          <a:bodyPr>
            <a:noAutofit/>
          </a:bodyPr>
          <a:lstStyle/>
          <a:p>
            <a:r>
              <a:rPr lang="en-US" dirty="0"/>
              <a:t>Aggregation Example – The Course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45A64-BD48-0B43-B282-62840D190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334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Course class has </a:t>
            </a:r>
          </a:p>
          <a:p>
            <a:pPr lvl="1"/>
            <a:r>
              <a:rPr lang="en-US" dirty="0"/>
              <a:t>an Instructor object and</a:t>
            </a:r>
          </a:p>
          <a:p>
            <a:pPr lvl="1"/>
            <a:r>
              <a:rPr lang="en-US" dirty="0"/>
              <a:t> a TextBook object as fields, as well </a:t>
            </a:r>
          </a:p>
          <a:p>
            <a:pPr lvl="1"/>
            <a:r>
              <a:rPr lang="en-US" dirty="0"/>
              <a:t>as a course name 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object aggregation </a:t>
            </a:r>
            <a:r>
              <a:rPr lang="en-US" dirty="0"/>
              <a:t>- instance of one class </a:t>
            </a:r>
            <a:r>
              <a:rPr lang="en-US" dirty="0" err="1"/>
              <a:t>isz</a:t>
            </a:r>
            <a:r>
              <a:rPr lang="en-US" dirty="0"/>
              <a:t> itself a class is called. </a:t>
            </a:r>
          </a:p>
          <a:p>
            <a:pPr lvl="1"/>
            <a:r>
              <a:rPr lang="en-US" dirty="0"/>
              <a:t>aggregate means “a whole which is made of constituent parts.”</a:t>
            </a:r>
            <a:br>
              <a:rPr lang="en-US" dirty="0"/>
            </a:br>
            <a:r>
              <a:rPr lang="en-US" dirty="0"/>
              <a:t> </a:t>
            </a:r>
          </a:p>
          <a:p>
            <a:r>
              <a:rPr lang="en-US" dirty="0"/>
              <a:t>a “has a” relationship between the classes.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For examples:</a:t>
            </a:r>
          </a:p>
          <a:p>
            <a:pPr lvl="1"/>
            <a:r>
              <a:rPr lang="en-US" dirty="0"/>
              <a:t>The course has an instructor.</a:t>
            </a:r>
          </a:p>
          <a:p>
            <a:pPr lvl="1"/>
            <a:r>
              <a:rPr lang="en-US" dirty="0"/>
              <a:t>The course has a textbook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67C17-E683-E04E-B8BE-E3EFD7502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895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30E3B-E952-4644-BF9E-A23A6C58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458200" cy="475488"/>
          </a:xfrm>
        </p:spPr>
        <p:txBody>
          <a:bodyPr>
            <a:noAutofit/>
          </a:bodyPr>
          <a:lstStyle/>
          <a:p>
            <a:r>
              <a:rPr lang="en-US" dirty="0"/>
              <a:t>Discussion On UML For the Course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45A64-BD48-0B43-B282-62840D190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9680"/>
            <a:ext cx="8458200" cy="5303520"/>
          </a:xfrm>
        </p:spPr>
        <p:txBody>
          <a:bodyPr>
            <a:normAutofit/>
          </a:bodyPr>
          <a:lstStyle/>
          <a:p>
            <a:r>
              <a:rPr lang="en-US" dirty="0"/>
              <a:t>The Course class</a:t>
            </a:r>
          </a:p>
          <a:p>
            <a:pPr lvl="1"/>
            <a:r>
              <a:rPr lang="en-US" dirty="0"/>
              <a:t>Three instance variables –</a:t>
            </a:r>
          </a:p>
          <a:p>
            <a:pPr lvl="2"/>
            <a:r>
              <a:rPr lang="en-US" dirty="0" err="1"/>
              <a:t>courseName</a:t>
            </a:r>
            <a:r>
              <a:rPr lang="en-US" dirty="0"/>
              <a:t>, </a:t>
            </a:r>
          </a:p>
          <a:p>
            <a:pPr lvl="2"/>
            <a:r>
              <a:rPr lang="en-US" dirty="0"/>
              <a:t>Instructor and </a:t>
            </a:r>
          </a:p>
          <a:p>
            <a:pPr lvl="2"/>
            <a:r>
              <a:rPr lang="en-US" dirty="0" err="1"/>
              <a:t>TextBook</a:t>
            </a:r>
            <a:endParaRPr lang="en-US" dirty="0"/>
          </a:p>
          <a:p>
            <a:pPr lvl="1"/>
            <a:r>
              <a:rPr lang="en-US" dirty="0"/>
              <a:t>A constructor accepts arguments for these</a:t>
            </a:r>
          </a:p>
          <a:p>
            <a:pPr lvl="1"/>
            <a:r>
              <a:rPr lang="en-US" dirty="0"/>
              <a:t>A set/get method for each instance variable</a:t>
            </a:r>
          </a:p>
          <a:p>
            <a:pPr lvl="1"/>
            <a:r>
              <a:rPr lang="en-US" dirty="0"/>
              <a:t>A toString method</a:t>
            </a:r>
          </a:p>
          <a:p>
            <a:pPr lvl="1"/>
            <a:endParaRPr lang="en-US" dirty="0"/>
          </a:p>
          <a:p>
            <a:pPr marL="393192" lvl="1" indent="0">
              <a:buNone/>
            </a:pPr>
            <a:r>
              <a:rPr lang="en-US" dirty="0"/>
              <a:t>See </a:t>
            </a:r>
            <a:r>
              <a:rPr lang="en-US" dirty="0">
                <a:solidFill>
                  <a:srgbClr val="FF0000"/>
                </a:solidFill>
              </a:rPr>
              <a:t>Course.java </a:t>
            </a:r>
            <a:r>
              <a:rPr lang="en-US" dirty="0"/>
              <a:t>code</a:t>
            </a:r>
          </a:p>
          <a:p>
            <a:pPr marL="393192" lvl="1" indent="0">
              <a:buNone/>
            </a:pPr>
            <a:r>
              <a:rPr lang="en-US" dirty="0"/>
              <a:t>Then see </a:t>
            </a:r>
            <a:r>
              <a:rPr lang="en-US" dirty="0">
                <a:solidFill>
                  <a:srgbClr val="FF0000"/>
                </a:solidFill>
              </a:rPr>
              <a:t>CourseDemo.java</a:t>
            </a:r>
          </a:p>
          <a:p>
            <a:pPr marL="393192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67C17-E683-E04E-B8BE-E3EFD7502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927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4F62C-EC03-F04E-B2AF-4BF20BC18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Security Issues With Aggregate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028DD-58E0-3848-B418-C542CF6A9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/>
          </a:bodyPr>
          <a:lstStyle/>
          <a:p>
            <a:r>
              <a:rPr lang="en-US" dirty="0"/>
              <a:t>Perform </a:t>
            </a:r>
            <a:r>
              <a:rPr lang="en-US" b="1" dirty="0"/>
              <a:t>Deep Copies</a:t>
            </a:r>
          </a:p>
          <a:p>
            <a:pPr lvl="1"/>
            <a:r>
              <a:rPr lang="en-US" dirty="0"/>
              <a:t>With shallow copy we have two referring to the same list of books</a:t>
            </a:r>
          </a:p>
          <a:p>
            <a:endParaRPr lang="en-US" dirty="0"/>
          </a:p>
          <a:p>
            <a:r>
              <a:rPr lang="en-US" dirty="0"/>
              <a:t>When an object is requested, create a new Object that is a copy of the original, and return a reference to it.</a:t>
            </a:r>
          </a:p>
          <a:p>
            <a:pPr lvl="1"/>
            <a:r>
              <a:rPr lang="en-US" dirty="0"/>
              <a:t>This keeps the user from getting access to the original object.</a:t>
            </a:r>
          </a:p>
          <a:p>
            <a:endParaRPr lang="en-US" dirty="0"/>
          </a:p>
          <a:p>
            <a:r>
              <a:rPr lang="en-US" dirty="0"/>
              <a:t>COW – Copy on Write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ED7B4-1649-AF48-BF02-3456DC7BD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064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40104-9706-7147-9629-F896FDDD8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012F7-9E50-A84D-85F5-A24541B23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Java variables are reference variables for objects</a:t>
            </a:r>
          </a:p>
          <a:p>
            <a:r>
              <a:rPr lang="en-US" dirty="0"/>
              <a:t>These objects, which are created from classes, can be some or all of the instance variables of other classes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19D27-F1AA-0F40-B984-D204B329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73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49620-C703-9F40-AFFC-F69EEC6CF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Enumerated 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58DA1-AF61-8241-B9E8-75659BF89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661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4D67B-3AA6-8940-A6DB-77A358F80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Enumerated Types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71857-ED21-2744-9949-7A860CF73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21080"/>
            <a:ext cx="8458200" cy="5379720"/>
          </a:xfrm>
        </p:spPr>
        <p:txBody>
          <a:bodyPr>
            <a:normAutofit/>
          </a:bodyPr>
          <a:lstStyle/>
          <a:p>
            <a:r>
              <a:rPr lang="en-US" dirty="0"/>
              <a:t>Is a set of predefined values</a:t>
            </a:r>
          </a:p>
          <a:p>
            <a:pPr lvl="1"/>
            <a:r>
              <a:rPr lang="en-US" dirty="0"/>
              <a:t>data type to hold only the values</a:t>
            </a:r>
          </a:p>
          <a:p>
            <a:endParaRPr lang="en-US" dirty="0"/>
          </a:p>
          <a:p>
            <a:r>
              <a:rPr lang="en-US" dirty="0"/>
              <a:t>data type that have only specific values</a:t>
            </a:r>
          </a:p>
          <a:p>
            <a:pPr lvl="1"/>
            <a:r>
              <a:rPr lang="en-US" sz="3200" b="1" dirty="0"/>
              <a:t>Day: (Sunday, Monday, and so forth)</a:t>
            </a:r>
          </a:p>
          <a:p>
            <a:pPr lvl="1"/>
            <a:r>
              <a:rPr lang="en-US" dirty="0"/>
              <a:t>Such a type is known as an </a:t>
            </a:r>
            <a:r>
              <a:rPr lang="en-US" dirty="0">
                <a:solidFill>
                  <a:srgbClr val="FF0000"/>
                </a:solidFill>
              </a:rPr>
              <a:t>enumerated</a:t>
            </a:r>
            <a:r>
              <a:rPr lang="en-US" dirty="0"/>
              <a:t> data type</a:t>
            </a:r>
          </a:p>
          <a:p>
            <a:endParaRPr lang="en-US" dirty="0"/>
          </a:p>
          <a:p>
            <a:r>
              <a:rPr lang="en-US" dirty="0"/>
              <a:t>When you write an enumerated type declaration, you are actually creating </a:t>
            </a:r>
            <a:r>
              <a:rPr lang="en-US" dirty="0">
                <a:solidFill>
                  <a:srgbClr val="FF0000"/>
                </a:solidFill>
              </a:rPr>
              <a:t>a special kind of class</a:t>
            </a:r>
            <a:r>
              <a:rPr lang="en-US" dirty="0"/>
              <a:t>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037B3-B82B-4741-AE1D-0B8B0BB8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32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4D67B-3AA6-8940-A6DB-77A358F80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Enumerated Types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71857-ED21-2744-9949-7A860CF73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95400"/>
            <a:ext cx="8458200" cy="5151120"/>
          </a:xfrm>
        </p:spPr>
        <p:txBody>
          <a:bodyPr>
            <a:normAutofit/>
          </a:bodyPr>
          <a:lstStyle/>
          <a:p>
            <a:r>
              <a:rPr lang="en-US" dirty="0"/>
              <a:t>Sometimes it is helpful to create your own data type that has a specific set of legal values</a:t>
            </a:r>
          </a:p>
          <a:p>
            <a:endParaRPr lang="en-US" sz="1200" dirty="0"/>
          </a:p>
          <a:p>
            <a:pPr lvl="1"/>
            <a:r>
              <a:rPr lang="en-US" dirty="0"/>
              <a:t>For example, Day  and (Sunday, Monday, and so forth)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With the Day data type, you can only store the names of the days of the week in that variable</a:t>
            </a:r>
          </a:p>
          <a:p>
            <a:pPr marL="393192" lvl="1" indent="0">
              <a:buNone/>
            </a:pPr>
            <a:r>
              <a:rPr lang="en-US" dirty="0"/>
              <a:t>    Any other values would be illegal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This is known as an </a:t>
            </a:r>
            <a:r>
              <a:rPr lang="en-US" dirty="0">
                <a:solidFill>
                  <a:srgbClr val="FF0000"/>
                </a:solidFill>
              </a:rPr>
              <a:t>enumerated</a:t>
            </a:r>
            <a:r>
              <a:rPr lang="en-US" dirty="0"/>
              <a:t> data type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037B3-B82B-4741-AE1D-0B8B0BB8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288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E961A-6F6E-6A4C-AC39-DB835D39F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475488"/>
          </a:xfrm>
        </p:spPr>
        <p:txBody>
          <a:bodyPr>
            <a:noAutofit/>
          </a:bodyPr>
          <a:lstStyle/>
          <a:p>
            <a:r>
              <a:rPr lang="en-US" dirty="0"/>
              <a:t>The Syntax Of Enumerated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200DE-819B-DD4E-B818-F09324A7E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8679"/>
            <a:ext cx="8229600" cy="5836921"/>
          </a:xfrm>
        </p:spPr>
        <p:txBody>
          <a:bodyPr>
            <a:normAutofit/>
          </a:bodyPr>
          <a:lstStyle/>
          <a:p>
            <a:pPr marL="365760" lvl="1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public enum Day { SUNDAY, MONDAY, TUESDAY, WEDNESDAY, </a:t>
            </a: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000" dirty="0">
                <a:solidFill>
                  <a:srgbClr val="FF0000"/>
                </a:solidFill>
              </a:rPr>
              <a:t>                                THURSDAY, FRIDAY, SATURDAY} ;</a:t>
            </a:r>
          </a:p>
          <a:p>
            <a:r>
              <a:rPr lang="en-US" sz="2000" dirty="0"/>
              <a:t>Day</a:t>
            </a:r>
          </a:p>
          <a:p>
            <a:pPr lvl="1"/>
            <a:r>
              <a:rPr lang="en-US" sz="2000" dirty="0"/>
              <a:t>SUNDAY, MONDAY, TUESDAY, WEDNESDAY, THURSDAY, FRIDAY, and SATURDAY, </a:t>
            </a:r>
          </a:p>
          <a:p>
            <a:pPr marL="667512" lvl="2" indent="0">
              <a:buNone/>
            </a:pPr>
            <a:endParaRPr lang="en-US" sz="1800" dirty="0"/>
          </a:p>
          <a:p>
            <a:pPr marL="393192" lvl="1" indent="0">
              <a:buNone/>
            </a:pPr>
            <a:endParaRPr lang="en-US" sz="2000" dirty="0"/>
          </a:p>
          <a:p>
            <a:r>
              <a:rPr lang="en-US" sz="2000" dirty="0"/>
              <a:t>The general format of an enumerated type declaration:</a:t>
            </a:r>
          </a:p>
          <a:p>
            <a:pPr marL="365760" lvl="1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enum TypeName { One or more enum constants };</a:t>
            </a:r>
          </a:p>
          <a:p>
            <a:pPr marL="365760" lvl="1" indent="0">
              <a:buNone/>
            </a:pPr>
            <a:endParaRPr lang="en-US" sz="2000" dirty="0">
              <a:solidFill>
                <a:srgbClr val="FF0000"/>
              </a:solidFill>
            </a:endParaRPr>
          </a:p>
          <a:p>
            <a:pPr marL="342900" indent="-342900"/>
            <a:r>
              <a:rPr lang="en-US" sz="2000" dirty="0"/>
              <a:t>must be declared outside of any method, including main</a:t>
            </a:r>
          </a:p>
          <a:p>
            <a:pPr marL="342900" indent="-342900"/>
            <a:endParaRPr lang="en-US" sz="2000" dirty="0"/>
          </a:p>
          <a:p>
            <a:pPr marL="342900" indent="-342900"/>
            <a:r>
              <a:rPr lang="en-US" sz="2000" dirty="0"/>
              <a:t>convention is to write them in all uppercase letters,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D9BB7-2772-6047-907C-A62DFD812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359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2E81F-AFD9-3741-BF25-2E149EB77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Declaring And Using An Enumerated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D0037-4703-344C-ADF4-897E9E8F1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9679"/>
            <a:ext cx="8229600" cy="5471795"/>
          </a:xfrm>
        </p:spPr>
        <p:txBody>
          <a:bodyPr>
            <a:normAutofit/>
          </a:bodyPr>
          <a:lstStyle/>
          <a:p>
            <a:r>
              <a:rPr lang="en-US" dirty="0"/>
              <a:t>an object of the </a:t>
            </a:r>
            <a:r>
              <a:rPr lang="en-US" dirty="0" err="1"/>
              <a:t>enum</a:t>
            </a:r>
            <a:r>
              <a:rPr lang="en-US" dirty="0"/>
              <a:t> class of that type</a:t>
            </a:r>
          </a:p>
          <a:p>
            <a:pPr marL="365760" lvl="1" indent="0">
              <a:buNone/>
            </a:pPr>
            <a:endParaRPr lang="en-US" dirty="0"/>
          </a:p>
          <a:p>
            <a:pPr marL="365760" lvl="1" indent="0">
              <a:buNone/>
            </a:pPr>
            <a:r>
              <a:rPr lang="en-US" dirty="0"/>
              <a:t>Day workDay; // creates a variable workDay</a:t>
            </a:r>
          </a:p>
          <a:p>
            <a:endParaRPr lang="en-US" dirty="0"/>
          </a:p>
          <a:p>
            <a:pPr marL="36576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Day workDay = </a:t>
            </a:r>
            <a:r>
              <a:rPr lang="en-US" dirty="0" err="1">
                <a:solidFill>
                  <a:srgbClr val="FF0000"/>
                </a:solidFill>
              </a:rPr>
              <a:t>Day.WEDNESDAY</a:t>
            </a:r>
            <a:r>
              <a:rPr lang="en-US" dirty="0">
                <a:solidFill>
                  <a:srgbClr val="FF0000"/>
                </a:solidFill>
              </a:rPr>
              <a:t>;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//NOTE – this is a constant, no instantiation variable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Note: We assign </a:t>
            </a:r>
            <a:r>
              <a:rPr lang="en-US" b="1" dirty="0" err="1"/>
              <a:t>Day.WEDNESDAY</a:t>
            </a:r>
            <a:r>
              <a:rPr lang="en-US" b="1" dirty="0"/>
              <a:t> </a:t>
            </a:r>
            <a:br>
              <a:rPr lang="en-US" b="1" dirty="0"/>
            </a:br>
            <a:r>
              <a:rPr lang="en-US" dirty="0"/>
              <a:t>instead of just            </a:t>
            </a:r>
            <a:r>
              <a:rPr lang="en-US" b="1" dirty="0"/>
              <a:t>WEDNESDAY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Use the </a:t>
            </a:r>
            <a:r>
              <a:rPr lang="en-US" dirty="0">
                <a:solidFill>
                  <a:srgbClr val="FF0000"/>
                </a:solidFill>
              </a:rPr>
              <a:t>fully qualified name </a:t>
            </a:r>
            <a:r>
              <a:rPr lang="en-US" dirty="0"/>
              <a:t>of the Day type’s WEDNESDAY constant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92245-3CF2-844B-86B9-416E19319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4821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82D81-2B65-BA4F-8B27-4BFB288E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26720"/>
          </a:xfrm>
        </p:spPr>
        <p:txBody>
          <a:bodyPr>
            <a:noAutofit/>
          </a:bodyPr>
          <a:lstStyle/>
          <a:p>
            <a:r>
              <a:rPr lang="en-US" dirty="0"/>
              <a:t>Programming Exercise 1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5E283-8ABA-4E42-B052-8D5773E78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15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Modifying the CourseDemo and Course and classes</a:t>
            </a:r>
          </a:p>
          <a:p>
            <a:r>
              <a:rPr lang="en-US" dirty="0"/>
              <a:t>In CourseDemoV2 </a:t>
            </a:r>
          </a:p>
          <a:p>
            <a:pPr lvl="1"/>
            <a:r>
              <a:rPr lang="en-US" dirty="0"/>
              <a:t>Create the Course as in current example (hard coded, but eliminate the TextBook from the constructor call)</a:t>
            </a:r>
          </a:p>
          <a:p>
            <a:pPr lvl="1"/>
            <a:r>
              <a:rPr lang="en-US" dirty="0"/>
              <a:t>Read in the file name containing a list of text books for the course (you can download textbooks.txt). The format of the file has the format for each textbook on three lines containing:</a:t>
            </a:r>
          </a:p>
          <a:p>
            <a:pPr marL="393192" lvl="1" indent="0">
              <a:buNone/>
            </a:pPr>
            <a:r>
              <a:rPr lang="en-US" dirty="0"/>
              <a:t>   Title</a:t>
            </a:r>
          </a:p>
          <a:p>
            <a:pPr marL="393192" lvl="1" indent="0">
              <a:buNone/>
            </a:pPr>
            <a:r>
              <a:rPr lang="en-US" dirty="0"/>
              <a:t>   Author</a:t>
            </a:r>
          </a:p>
          <a:p>
            <a:pPr marL="393192" lvl="1" indent="0">
              <a:buNone/>
            </a:pPr>
            <a:r>
              <a:rPr lang="en-US" dirty="0"/>
              <a:t>   Publisher</a:t>
            </a:r>
          </a:p>
          <a:p>
            <a:pPr lvl="1"/>
            <a:r>
              <a:rPr lang="en-US" dirty="0"/>
              <a:t>Create a Scanner to read in the file – </a:t>
            </a:r>
          </a:p>
          <a:p>
            <a:pPr lvl="2"/>
            <a:r>
              <a:rPr lang="en-US" dirty="0"/>
              <a:t>Read in three lines</a:t>
            </a:r>
          </a:p>
          <a:p>
            <a:pPr lvl="2"/>
            <a:r>
              <a:rPr lang="en-US" dirty="0"/>
              <a:t>Create a TextBook</a:t>
            </a:r>
          </a:p>
          <a:p>
            <a:pPr lvl="2"/>
            <a:r>
              <a:rPr lang="en-US" dirty="0"/>
              <a:t>Call addTextBook to add a new text book for the course</a:t>
            </a:r>
          </a:p>
          <a:p>
            <a:pPr lvl="2"/>
            <a:endParaRPr lang="en-US" dirty="0"/>
          </a:p>
          <a:p>
            <a:r>
              <a:rPr lang="en-US" dirty="0"/>
              <a:t>Note: A better model might have the Instructor adding the TextBook(s) for the course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74B48-5DC5-2647-B190-EEDA70586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199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E3ACB-80D8-C544-8CC8-BD0CE95A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1312"/>
            <a:ext cx="8229600" cy="475488"/>
          </a:xfrm>
        </p:spPr>
        <p:txBody>
          <a:bodyPr>
            <a:noAutofit/>
          </a:bodyPr>
          <a:lstStyle/>
          <a:p>
            <a:r>
              <a:rPr lang="en-US" dirty="0"/>
              <a:t>The enum May Be declared Inside Or Outside Of The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B6787-FEC9-C94C-98E4-2ADCB6B50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Enum itself is a class</a:t>
            </a:r>
          </a:p>
          <a:p>
            <a:r>
              <a:rPr lang="en-US" dirty="0"/>
              <a:t>See </a:t>
            </a:r>
            <a:r>
              <a:rPr lang="en-US" dirty="0">
                <a:solidFill>
                  <a:srgbClr val="FF0000"/>
                </a:solidFill>
              </a:rPr>
              <a:t>TestEnumColorV1.java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TestEnumColorV2.java</a:t>
            </a:r>
          </a:p>
          <a:p>
            <a:r>
              <a:rPr lang="en-US" dirty="0"/>
              <a:t>Every enum constant is always implicitly public static final. </a:t>
            </a:r>
          </a:p>
          <a:p>
            <a:pPr lvl="1"/>
            <a:r>
              <a:rPr lang="en-US" dirty="0"/>
              <a:t>Since it is static, we can access it by using enum Name. </a:t>
            </a:r>
          </a:p>
          <a:p>
            <a:pPr lvl="1"/>
            <a:r>
              <a:rPr lang="en-US" dirty="0"/>
              <a:t>Since it is final, we can’t create child enums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55960-2D6E-1A4D-9766-93A6CCCB0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6231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13638-3864-E449-9C36-F4440EC4E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305800" cy="780288"/>
          </a:xfrm>
        </p:spPr>
        <p:txBody>
          <a:bodyPr/>
          <a:lstStyle/>
          <a:p>
            <a:r>
              <a:rPr lang="en-US" dirty="0"/>
              <a:t>The enum Type Structure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26FFFE-670D-D648-A4A9-B6AC81F8C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125F7F-F57C-E14C-8A9F-018A6EDC08B6}"/>
              </a:ext>
            </a:extLst>
          </p:cNvPr>
          <p:cNvSpPr/>
          <p:nvPr/>
        </p:nvSpPr>
        <p:spPr>
          <a:xfrm>
            <a:off x="1219200" y="3505200"/>
            <a:ext cx="1295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reference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92FDF5-75A4-A34A-BD68-137EACBEBCB7}"/>
              </a:ext>
            </a:extLst>
          </p:cNvPr>
          <p:cNvSpPr/>
          <p:nvPr/>
        </p:nvSpPr>
        <p:spPr>
          <a:xfrm>
            <a:off x="4191000" y="1295400"/>
            <a:ext cx="2057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Day.SUNDAY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016479-5133-AD4E-B102-AF8EE53A68F7}"/>
              </a:ext>
            </a:extLst>
          </p:cNvPr>
          <p:cNvSpPr/>
          <p:nvPr/>
        </p:nvSpPr>
        <p:spPr>
          <a:xfrm>
            <a:off x="4191000" y="2057400"/>
            <a:ext cx="2057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Day.MONDAY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E3F91B-55FF-C545-8062-F3D5D55ECDCB}"/>
              </a:ext>
            </a:extLst>
          </p:cNvPr>
          <p:cNvSpPr/>
          <p:nvPr/>
        </p:nvSpPr>
        <p:spPr>
          <a:xfrm>
            <a:off x="4186718" y="2792156"/>
            <a:ext cx="2061682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Day.TUESDAY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684A10-C4E2-5B42-A99B-BC1660F3C180}"/>
              </a:ext>
            </a:extLst>
          </p:cNvPr>
          <p:cNvSpPr/>
          <p:nvPr/>
        </p:nvSpPr>
        <p:spPr>
          <a:xfrm>
            <a:off x="4180726" y="3505200"/>
            <a:ext cx="2067674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Day.WEDNESDAY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EC9390-2425-5748-9DB2-C25C65AC72D3}"/>
              </a:ext>
            </a:extLst>
          </p:cNvPr>
          <p:cNvSpPr/>
          <p:nvPr/>
        </p:nvSpPr>
        <p:spPr>
          <a:xfrm>
            <a:off x="4180726" y="4278638"/>
            <a:ext cx="2067674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Day.THURSDAY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670759-A101-1A4B-A613-AE0EDDB11795}"/>
              </a:ext>
            </a:extLst>
          </p:cNvPr>
          <p:cNvSpPr/>
          <p:nvPr/>
        </p:nvSpPr>
        <p:spPr>
          <a:xfrm>
            <a:off x="4180726" y="5136068"/>
            <a:ext cx="2067674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Day.FRIDAY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5E6D0-A130-3448-9C5E-8D6230D87826}"/>
              </a:ext>
            </a:extLst>
          </p:cNvPr>
          <p:cNvSpPr/>
          <p:nvPr/>
        </p:nvSpPr>
        <p:spPr>
          <a:xfrm>
            <a:off x="4180726" y="5907640"/>
            <a:ext cx="2067674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Day.SATURDAY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A976B-BCF0-5E41-84D5-B8C84E47E0FF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2514600" y="3733800"/>
            <a:ext cx="16661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28A4288-5ABA-8543-9923-2E7F6548B669}"/>
              </a:ext>
            </a:extLst>
          </p:cNvPr>
          <p:cNvSpPr txBox="1"/>
          <p:nvPr/>
        </p:nvSpPr>
        <p:spPr>
          <a:xfrm>
            <a:off x="762000" y="2779313"/>
            <a:ext cx="571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Day</a:t>
            </a: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6392DF1D-A897-BA46-AF9E-062F3BCD5CEB}"/>
              </a:ext>
            </a:extLst>
          </p:cNvPr>
          <p:cNvSpPr/>
          <p:nvPr/>
        </p:nvSpPr>
        <p:spPr>
          <a:xfrm>
            <a:off x="685800" y="3200400"/>
            <a:ext cx="647700" cy="533400"/>
          </a:xfrm>
          <a:prstGeom prst="arc">
            <a:avLst/>
          </a:prstGeom>
          <a:ln w="158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0035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8B618-C420-3D46-BFE4-A3CEB4864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Common Methods Of The enum Type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02EF0B4-2FE3-9A4F-8EB0-E83BD4974F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7134939"/>
              </p:ext>
            </p:extLst>
          </p:nvPr>
        </p:nvGraphicFramePr>
        <p:xfrm>
          <a:off x="533400" y="1371600"/>
          <a:ext cx="8305801" cy="338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69937456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507387627"/>
                    </a:ext>
                  </a:extLst>
                </a:gridCol>
                <a:gridCol w="2971801">
                  <a:extLst>
                    <a:ext uri="{9D8B030D-6E8A-4147-A177-3AD203B41FA5}">
                      <a16:colId xmlns:a16="http://schemas.microsoft.com/office/drawing/2014/main" val="21880406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337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ordinal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Returns the numeric value of the enum 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Day.SUNDAY.ordinal() returns 0</a:t>
                      </a:r>
                    </a:p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Day.THURSDAY.ordinal() returns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467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boolean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equals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(Enum object)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Returns true or false based on whether the values of the objects are equal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Day.SUNDAY.equals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(Day.THURSDAY) returns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851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compareTo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(Enum object)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Compares the two objects and returns a negative number if the ordinal of this object is less than the argument, 0 if they are the same or positive if the ordinal of the object is greater than the ordinal of the 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Day.WEDNESDAY.compareTo(DAY.THURSDAY) returns a value &lt;0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Day.THURSDAY.compareTo(DAY.WEDNESDAY) returns a value &gt;0</a:t>
                      </a:r>
                    </a:p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Day.THURSDAY.compareTo(DAY.THURSDAY) returns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601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 toString()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Returns the name of the enumerated 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Day.SUNDAY.toString() returns “SUNDAY”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752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Enum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valueOf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(String enumName)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Returns the enum object whose name is the same as the String argument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Day.valueOf("WEDNESDAY") returns WEDNESDAY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98712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533FD-648B-284A-B49E-3E4F6F85F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E1F0B9-2D09-9740-8E5D-7ED0FCF57216}"/>
              </a:ext>
            </a:extLst>
          </p:cNvPr>
          <p:cNvSpPr txBox="1"/>
          <p:nvPr/>
        </p:nvSpPr>
        <p:spPr>
          <a:xfrm>
            <a:off x="914400" y="5257800"/>
            <a:ext cx="23879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</a:t>
            </a:r>
            <a:r>
              <a:rPr lang="en-US" dirty="0">
                <a:solidFill>
                  <a:srgbClr val="FF0000"/>
                </a:solidFill>
              </a:rPr>
              <a:t>EnumTester.java</a:t>
            </a:r>
          </a:p>
          <a:p>
            <a:r>
              <a:rPr lang="en-US" dirty="0"/>
              <a:t>See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TestEnumDay.java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1274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E3ACB-80D8-C544-8CC8-BD0CE95A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1312"/>
            <a:ext cx="8229600" cy="475488"/>
          </a:xfrm>
        </p:spPr>
        <p:txBody>
          <a:bodyPr>
            <a:noAutofit/>
          </a:bodyPr>
          <a:lstStyle/>
          <a:p>
            <a:r>
              <a:rPr lang="en-US" dirty="0"/>
              <a:t>The </a:t>
            </a:r>
            <a:r>
              <a:rPr lang="en-US" dirty="0" err="1"/>
              <a:t>enum</a:t>
            </a:r>
            <a:r>
              <a:rPr lang="en-US" dirty="0"/>
              <a:t> class – Rules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B6787-FEC9-C94C-98E4-2ADCB6B50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enum</a:t>
            </a:r>
            <a:r>
              <a:rPr lang="en-US" dirty="0"/>
              <a:t> itself is a class</a:t>
            </a:r>
          </a:p>
          <a:p>
            <a:endParaRPr lang="en-US" sz="1000" dirty="0"/>
          </a:p>
          <a:p>
            <a:r>
              <a:rPr lang="en-US" dirty="0" err="1"/>
              <a:t>enum</a:t>
            </a:r>
            <a:r>
              <a:rPr lang="en-US" dirty="0"/>
              <a:t> constants are implicitly final</a:t>
            </a:r>
          </a:p>
          <a:p>
            <a:endParaRPr lang="en-US" sz="1000" dirty="0"/>
          </a:p>
          <a:p>
            <a:r>
              <a:rPr lang="en-US" dirty="0" err="1"/>
              <a:t>enum</a:t>
            </a:r>
            <a:r>
              <a:rPr lang="en-US" dirty="0"/>
              <a:t> constants are implicitly static</a:t>
            </a:r>
          </a:p>
          <a:p>
            <a:endParaRPr lang="en-US" sz="1050" dirty="0"/>
          </a:p>
          <a:p>
            <a:r>
              <a:rPr lang="en-US" dirty="0"/>
              <a:t>Do NOT use </a:t>
            </a:r>
            <a:r>
              <a:rPr lang="en-US" b="1" dirty="0"/>
              <a:t>new</a:t>
            </a:r>
            <a:r>
              <a:rPr lang="en-US" dirty="0"/>
              <a:t> to create an </a:t>
            </a:r>
            <a:r>
              <a:rPr lang="en-US" dirty="0" err="1"/>
              <a:t>enum</a:t>
            </a:r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enum</a:t>
            </a:r>
            <a:r>
              <a:rPr lang="en-US" dirty="0"/>
              <a:t> constants can be used anywhere constants can be used, such as in the case labels of switch statements and to control enhanced for statements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55960-2D6E-1A4D-9766-93A6CCCB0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5849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82D81-2B65-BA4F-8B27-4BFB288E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26720"/>
          </a:xfrm>
        </p:spPr>
        <p:txBody>
          <a:bodyPr>
            <a:noAutofit/>
          </a:bodyPr>
          <a:lstStyle/>
          <a:p>
            <a:r>
              <a:rPr lang="en-US" dirty="0"/>
              <a:t>Programming Exercise 1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5E283-8ABA-4E42-B052-8D5773E78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334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Modifying the CourseDemo and Course and classes</a:t>
            </a:r>
          </a:p>
          <a:p>
            <a:r>
              <a:rPr lang="en-US" dirty="0"/>
              <a:t>Download the 4 classes</a:t>
            </a:r>
          </a:p>
          <a:p>
            <a:r>
              <a:rPr lang="en-US" dirty="0"/>
              <a:t>For this example the Instructor and TextBook classes remain unchanged.</a:t>
            </a:r>
          </a:p>
          <a:p>
            <a:r>
              <a:rPr lang="en-US" dirty="0"/>
              <a:t> Relabel CourseDemo and Course as CourseDemoV2 and CourseV2 in the file and class name</a:t>
            </a:r>
          </a:p>
          <a:p>
            <a:r>
              <a:rPr lang="en-US" dirty="0"/>
              <a:t>In CourseV2 </a:t>
            </a:r>
          </a:p>
          <a:p>
            <a:pPr lvl="1"/>
            <a:r>
              <a:rPr lang="en-US" dirty="0"/>
              <a:t>Change the constructor by eliminating the TextBook variable.</a:t>
            </a:r>
          </a:p>
          <a:p>
            <a:pPr lvl="1"/>
            <a:r>
              <a:rPr lang="en-US" dirty="0"/>
              <a:t>For an instance variable create an ArrayList of TextBook objects – remember to import ArrayList</a:t>
            </a:r>
          </a:p>
          <a:p>
            <a:pPr lvl="1"/>
            <a:r>
              <a:rPr lang="en-US" dirty="0"/>
              <a:t>Create a void addTextBook(TextBook) method with appropriate code to add a TextBook to the ArrayList</a:t>
            </a:r>
          </a:p>
          <a:p>
            <a:pPr lvl="1"/>
            <a:r>
              <a:rPr lang="en-US" dirty="0"/>
              <a:t>Add a method </a:t>
            </a:r>
            <a:r>
              <a:rPr lang="en-US" dirty="0" err="1"/>
              <a:t>getTextBooks</a:t>
            </a:r>
            <a:r>
              <a:rPr lang="en-US" dirty="0"/>
              <a:t>() which returns a reference to the ArrayList of Textbooks</a:t>
            </a:r>
          </a:p>
          <a:p>
            <a:pPr lvl="1"/>
            <a:r>
              <a:rPr lang="en-US" dirty="0"/>
              <a:t>Modify toString so that it creates a String that includes each TextBook in the ArrayList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74B48-5DC5-2647-B190-EEDA70586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7939-A071-43C1-9268-F54CC2756BB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5090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17330</TotalTime>
  <Words>2092</Words>
  <Application>Microsoft Macintosh PowerPoint</Application>
  <PresentationFormat>On-screen Show (4:3)</PresentationFormat>
  <Paragraphs>300</Paragraphs>
  <Slides>27</Slides>
  <Notes>7</Notes>
  <HiddenSlides>9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Cambria</vt:lpstr>
      <vt:lpstr>Constantia</vt:lpstr>
      <vt:lpstr>Wingdings 2</vt:lpstr>
      <vt:lpstr>Flow</vt:lpstr>
      <vt:lpstr>LECTURE 11</vt:lpstr>
      <vt:lpstr>Course References</vt:lpstr>
      <vt:lpstr>An enum Type Is Really A Class</vt:lpstr>
      <vt:lpstr>Lesson Goals</vt:lpstr>
      <vt:lpstr>Aggregation Allows Us To Build Realistic Models</vt:lpstr>
      <vt:lpstr>Aggregation Allows Us To Build Realistic Models</vt:lpstr>
      <vt:lpstr>PowerPoint Presentation</vt:lpstr>
      <vt:lpstr>PowerPoint Presentation</vt:lpstr>
      <vt:lpstr>PowerPoint Presentation</vt:lpstr>
      <vt:lpstr>PowerPoint Presentation</vt:lpstr>
      <vt:lpstr>Discussion On UML For the Instructor class</vt:lpstr>
      <vt:lpstr>Discussion On UML For the Textbook class</vt:lpstr>
      <vt:lpstr>Aggregation Example – The Course class</vt:lpstr>
      <vt:lpstr>Discussion On UML For the Course class</vt:lpstr>
      <vt:lpstr>Security Issues With Aggregate Classes</vt:lpstr>
      <vt:lpstr>Summary</vt:lpstr>
      <vt:lpstr>Enumerated Types</vt:lpstr>
      <vt:lpstr>Enumerated Types Overview</vt:lpstr>
      <vt:lpstr>Enumerated Types Overview</vt:lpstr>
      <vt:lpstr>The Syntax Of Enumerated Types</vt:lpstr>
      <vt:lpstr>Declaring And Using An Enumerated Variable</vt:lpstr>
      <vt:lpstr>Programming Exercise 1 (2)</vt:lpstr>
      <vt:lpstr>The enum May Be declared Inside Or Outside Of The class</vt:lpstr>
      <vt:lpstr>The enum Type Structure</vt:lpstr>
      <vt:lpstr>Common Methods Of The enum Type</vt:lpstr>
      <vt:lpstr>The enum class – Rules summary</vt:lpstr>
      <vt:lpstr>Programming Exercise 1 (1)</vt:lpstr>
    </vt:vector>
  </TitlesOfParts>
  <Company>Northrop Grumman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Howard Rosenthal</dc:creator>
  <cp:lastModifiedBy>Malcolm McCullough</cp:lastModifiedBy>
  <cp:revision>1214</cp:revision>
  <cp:lastPrinted>2018-11-13T02:01:17Z</cp:lastPrinted>
  <dcterms:created xsi:type="dcterms:W3CDTF">2013-08-30T21:41:43Z</dcterms:created>
  <dcterms:modified xsi:type="dcterms:W3CDTF">2026-02-19T17:05:05Z</dcterms:modified>
</cp:coreProperties>
</file>